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5ED-4E95-8CB5-6A7944723250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5ED-4E95-8CB5-6A7944723250}"/>
              </c:ext>
            </c:extLst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5ED-4E95-8CB5-6A7944723250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5ED-4E95-8CB5-6A7944723250}"/>
              </c:ext>
            </c:extLst>
          </c:dPt>
          <c:dPt>
            <c:idx val="4"/>
            <c:invertIfNegative val="0"/>
            <c:bubble3D val="0"/>
            <c:spPr>
              <a:solidFill>
                <a:srgbClr val="2E6D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5ED-4E95-8CB5-6A794472325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Loyal</c:v>
                </c:pt>
                <c:pt idx="1">
                  <c:v>Churned</c:v>
                </c:pt>
                <c:pt idx="2">
                  <c:v>Champions</c:v>
                </c:pt>
                <c:pt idx="3">
                  <c:v>Promising</c:v>
                </c:pt>
                <c:pt idx="4">
                  <c:v>At Risk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531</c:v>
                </c:pt>
                <c:pt idx="1">
                  <c:v>201</c:v>
                </c:pt>
                <c:pt idx="2">
                  <c:v>181</c:v>
                </c:pt>
                <c:pt idx="3">
                  <c:v>77</c:v>
                </c:pt>
                <c:pt idx="4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5ED-4E95-8CB5-6A79447232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8F6-4FD9-9A27-8676CACCFD48}"/>
              </c:ext>
            </c:extLst>
          </c:dPt>
          <c:dPt>
            <c:idx val="1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F6-4FD9-9A27-8676CACCFD48}"/>
              </c:ext>
            </c:extLst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8F6-4FD9-9A27-8676CACCFD48}"/>
              </c:ext>
            </c:extLst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8F6-4FD9-9A27-8676CACCFD48}"/>
              </c:ext>
            </c:extLst>
          </c:dPt>
          <c:dPt>
            <c:idx val="4"/>
            <c:bubble3D val="0"/>
            <c:spPr>
              <a:solidFill>
                <a:srgbClr val="2E6D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8F6-4FD9-9A27-8676CACCFD4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8F6-4FD9-9A27-8676CACCFD4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8F6-4FD9-9A27-8676CACCFD4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8F6-4FD9-9A27-8676CACCFD4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8F6-4FD9-9A27-8676CACCFD48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8F6-4FD9-9A27-8676CACCFD4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Loyal 49.1%</c:v>
                </c:pt>
                <c:pt idx="1">
                  <c:v>Champions 26.2%</c:v>
                </c:pt>
                <c:pt idx="2">
                  <c:v>Churned 15.9%</c:v>
                </c:pt>
                <c:pt idx="3">
                  <c:v>Promising 4.7%</c:v>
                </c:pt>
                <c:pt idx="4">
                  <c:v>At Risk 4.2%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49.1</c:v>
                </c:pt>
                <c:pt idx="1">
                  <c:v>26.2</c:v>
                </c:pt>
                <c:pt idx="2">
                  <c:v>15.9</c:v>
                </c:pt>
                <c:pt idx="3">
                  <c:v>4.7</c:v>
                </c:pt>
                <c:pt idx="4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8F6-4FD9-9A27-8676CACCFD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Retention %</c:v>
                </c:pt>
              </c:strCache>
            </c:strRef>
          </c:tx>
          <c:spPr>
            <a:ln w="38100" cap="flat">
              <a:solidFill>
                <a:srgbClr val="1B2A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Month 0</c:v>
                </c:pt>
                <c:pt idx="1">
                  <c:v>Month 1</c:v>
                </c:pt>
                <c:pt idx="2">
                  <c:v>Month 2</c:v>
                </c:pt>
                <c:pt idx="3">
                  <c:v>Month 3</c:v>
                </c:pt>
                <c:pt idx="4">
                  <c:v>Month 4</c:v>
                </c:pt>
                <c:pt idx="5">
                  <c:v>Month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34.5</c:v>
                </c:pt>
                <c:pt idx="2">
                  <c:v>22.6</c:v>
                </c:pt>
                <c:pt idx="3">
                  <c:v>16.600000000000001</c:v>
                </c:pt>
                <c:pt idx="4">
                  <c:v>13.4</c:v>
                </c:pt>
                <c:pt idx="5">
                  <c:v>9.4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07E-4C4D-8AE0-FE87B49968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270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8872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Analytics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Deck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3200400"/>
            <a:ext cx="32004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3832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Vidhi Ojha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Candidate — Business Analytics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0" y="1645920"/>
            <a:ext cx="2286000" cy="1920240"/>
          </a:xfrm>
          <a:prstGeom prst="rect">
            <a:avLst/>
          </a:prstGeom>
          <a:solidFill>
            <a:srgbClr val="243556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0" y="2084832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
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1,056 customers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₹17.1L revenue analysed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2016 – Aug 2018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from 1,056 customers analysed across 5 segments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86868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61288"/>
            <a:ext cx="1691640" cy="4517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1555394"/>
            <a:ext cx="1691640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2032" y="105156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42032" y="105156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06624" y="1161288"/>
            <a:ext cx="1691640" cy="4517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06624" y="1555394"/>
            <a:ext cx="1691640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05156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10515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161288"/>
            <a:ext cx="1691640" cy="4517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₹1,622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91456" y="1555394"/>
            <a:ext cx="1691640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LTV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11696" y="105156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11696" y="1051560"/>
            <a:ext cx="54864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1161288"/>
            <a:ext cx="1691640" cy="4517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₹1,490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76288" y="1555394"/>
            <a:ext cx="1691640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0848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Distribution</a:t>
            </a:r>
            <a:endParaRPr lang="en-US" sz="11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57200" y="2377440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4846320" y="20848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by Segment</a:t>
            </a:r>
            <a:endParaRPr lang="en-US" sz="1100" dirty="0"/>
          </a:p>
        </p:txBody>
      </p:sp>
      <p:graphicFrame>
        <p:nvGraphicFramePr>
          <p:cNvPr id="23" name="Chart 1"/>
          <p:cNvGraphicFramePr/>
          <p:nvPr/>
        </p:nvGraphicFramePr>
        <p:xfrm>
          <a:off x="4846320" y="2377440"/>
          <a:ext cx="39319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Findings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is telling 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61288"/>
            <a:ext cx="292608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612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9264" y="1143000"/>
            <a:ext cx="3538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punch above their weight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9264" y="1435608"/>
            <a:ext cx="3538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+9.1pp revenue premium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655064"/>
            <a:ext cx="3904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of customers generate 26% of revenue — the highest-value segment by far with avg CLV of ₹2,478.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50008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50008"/>
            <a:ext cx="54864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459736"/>
            <a:ext cx="29260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597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9264" y="2441448"/>
            <a:ext cx="3538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segment is stable but not growing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9264" y="2734056"/>
            <a:ext cx="3538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customers · 49% revenue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953512"/>
            <a:ext cx="3904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proportionality signals stability, not growth. Opportunity to convert 10% into Champions (+₹15.4K CLV).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648456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48456"/>
            <a:ext cx="54864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758184"/>
            <a:ext cx="292608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5818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9264" y="3739896"/>
            <a:ext cx="3538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customers lost after first purchase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9264" y="4032504"/>
            <a:ext cx="3538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0→1 drop: 100% → 34.5%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4251960"/>
            <a:ext cx="3904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post-purchase window is the single biggest leak in the customer lifecycle.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105156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1051560"/>
            <a:ext cx="54864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1161288"/>
            <a:ext cx="2926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1612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04104" y="1143000"/>
            <a:ext cx="3538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segment = ₹2.71L lost revenue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04104" y="1435608"/>
            <a:ext cx="3538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of base · ~13 months inactive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1655064"/>
            <a:ext cx="3904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that was earned once but not retained. Win-back campaigns can recover ~10% with the right incentive.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92040" y="2350008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2040" y="2350008"/>
            <a:ext cx="54864" cy="11704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2459736"/>
            <a:ext cx="29260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24597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04104" y="2441448"/>
            <a:ext cx="3538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threshold needs recalibration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04104" y="2734056"/>
            <a:ext cx="3538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recency: 405d vs Churned: 396d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2953512"/>
            <a:ext cx="3904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 recency profiles mean the 90-day threshold is not meaningfully separating these two groups.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Customers Are Lost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retention curve across all 2017 cohorts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1051560"/>
            <a:ext cx="28346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80760" y="1051560"/>
            <a:ext cx="54864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45352" y="117957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65.5%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245352" y="16002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lost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first purchase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080760" y="2258568"/>
            <a:ext cx="28346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80760" y="2258568"/>
            <a:ext cx="54864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45352" y="238658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9.1pp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245352" y="28072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Month 1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Jan→Dec 2017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80760" y="3465576"/>
            <a:ext cx="28346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80760" y="3465576"/>
            <a:ext cx="54864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45352" y="3593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245352" y="401421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loyal core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Month 3 onwards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Recommendations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by revenue impact and implementation effort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24128"/>
            <a:ext cx="41148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61288"/>
            <a:ext cx="5029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612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4264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email sequence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739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All first-time buyers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993392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66544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within 24hrs of delivery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usage tips + review request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7: personalised product rec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21: replenishment reminder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lift Month 1 retention 34% → 42%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24128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24128"/>
            <a:ext cx="41148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161288"/>
            <a:ext cx="50292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1612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92040" y="14264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VIP programme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7739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181 Champion customers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92040" y="1993392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066544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 to new product launches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outreach (5th order, 1yr)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discounts — use exclusivity instead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20 Champions = ₹49,560 CLV at risk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999232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99232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136392"/>
            <a:ext cx="5029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1363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4360" y="3401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→ Champions conversion nudge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37490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531 Loyal customers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3968496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4164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Loyal with freq ≥ 2, recency &lt; 90d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Progress-based loyalty tracker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conversion = +₹15,400 incremental CLV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bridge: ₹941 CLV per customer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999232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999232"/>
            <a:ext cx="41148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3136392"/>
            <a:ext cx="5029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1363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92040" y="3401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campaign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7490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At Risk + Churned (267 customers)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92040" y="3968496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04164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email with strong incentive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expiry to create urgency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spend at 30% of avg CLV (≤ ₹365/customer)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reactivation = +₹32,832 revenue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estimates based on segment CLV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321040" cy="347472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1188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0" y="1188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8321040" cy="594360"/>
          </a:xfrm>
          <a:prstGeom prst="rect">
            <a:avLst/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737360"/>
            <a:ext cx="5486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57276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sequence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₹XX,XXX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15727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lifting Month 1 retention to 42%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2231136"/>
            <a:ext cx="8321040" cy="594360"/>
          </a:xfrm>
          <a:prstGeom prst="rect">
            <a:avLst/>
          </a:prstGeom>
          <a:solidFill>
            <a:srgbClr val="192D4E"/>
          </a:solidFill>
          <a:ln w="12700">
            <a:solidFill>
              <a:srgbClr val="192D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395728"/>
            <a:ext cx="54864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23113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VIP programme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23113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₹49,560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2231136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protected per 20 Champions retained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2889504"/>
            <a:ext cx="8321040" cy="594360"/>
          </a:xfrm>
          <a:prstGeom prst="rect">
            <a:avLst/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054096"/>
            <a:ext cx="548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88950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→ Champions nudge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88950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₹15,400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2889504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10% of Loyal upgrading to Champion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547872"/>
            <a:ext cx="8321040" cy="594360"/>
          </a:xfrm>
          <a:prstGeom prst="rect">
            <a:avLst/>
          </a:prstGeom>
          <a:solidFill>
            <a:srgbClr val="192D4E"/>
          </a:solidFill>
          <a:ln w="12700">
            <a:solidFill>
              <a:srgbClr val="192D4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712464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54787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campaign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5478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₹32,832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354787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10% reactivation of lapsed customers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Post-purchase sequence impact (Rec 1) requires A/B test baseline to quantify precisely. All other figures derived from segment CLV data.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Limitations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1148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1148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53896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98448"/>
            <a:ext cx="347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29844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post-purchase email sequence — highest impact, lowest cost action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41148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93392"/>
            <a:ext cx="347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7552" y="1993392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 churn threshold to 180–270 days using inter-purchase interval data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41148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43784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88336"/>
            <a:ext cx="347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" y="2688336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Champions watchlist in Power BI — flag any with recency &gt; 60 days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41148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38728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383280"/>
            <a:ext cx="347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3383280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win-back campaign for Churned + At Risk with a 14-day incentive offer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078224"/>
            <a:ext cx="41148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233672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078224"/>
            <a:ext cx="347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" y="4078224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acquisition channel tracking to measure CAC vs CLV per channel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822960"/>
            <a:ext cx="406908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8229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Limitations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1298448"/>
            <a:ext cx="406908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1298448"/>
            <a:ext cx="54864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13716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threshold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56048" y="164592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definition assumption-based; At Risk and Churned show near-identical recency (405d vs 396d)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2167128"/>
            <a:ext cx="406908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2167128"/>
            <a:ext cx="54864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224028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model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56048" y="25146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AOV × Frequency; production model would use BG/NBD probabilistic scoring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3035808"/>
            <a:ext cx="406908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035808"/>
            <a:ext cx="54864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310896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retention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56048" y="33832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benchmarks used due to Olist's single-purchase skew; real data would use repeat-buyer dataset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3904488"/>
            <a:ext cx="406908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904488"/>
            <a:ext cx="54864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39776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acquisition cost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56048" y="425196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data unavailable; payback period analysis requires channel-level spend data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</Words>
  <Application>Microsoft Office PowerPoint</Application>
  <PresentationFormat>On-screen Show (16:9)</PresentationFormat>
  <Paragraphs>136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Analytics — Recommendations</dc:title>
  <dc:subject>PptxGenJS Presentation</dc:subject>
  <dc:creator>Vidhi Ojha</dc:creator>
  <cp:lastModifiedBy>Vidhi Ojha</cp:lastModifiedBy>
  <cp:revision>2</cp:revision>
  <dcterms:created xsi:type="dcterms:W3CDTF">2026-05-18T09:48:48Z</dcterms:created>
  <dcterms:modified xsi:type="dcterms:W3CDTF">2026-05-18T10:01:58Z</dcterms:modified>
</cp:coreProperties>
</file>